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6858000" cy="9144000"/>
  <p:embeddedFontLst>
    <p:embeddedFont>
      <p:font typeface="Noto Sans KR Medium" panose="020B0200000000000000" pitchFamily="50" charset="-127"/>
      <p:regular r:id="rId11"/>
    </p:embeddedFont>
    <p:embeddedFont>
      <p:font typeface="JetBrains Mono ExtraBold" panose="02000009000000000000" pitchFamily="49" charset="0"/>
      <p:bold r:id="rId12"/>
      <p:boldItalic r:id="rId13"/>
    </p:embeddedFont>
    <p:embeddedFont>
      <p:font typeface="JetBrains Mono NL Medium" panose="02000009000000000000" pitchFamily="49" charset="0"/>
      <p:regular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fgzX1F9RMEQrk7f6fKs2cw==" hashData="B8AXFDkIy4rMCZHRTQg8LfQxx+1qvgCATZprr2UaasEoajP0ZxGC6+79oYdI3SOmMH+tc07OdGtZEONX1J0DA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D5E1"/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20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yohio-bit" TargetMode="External"/><Relationship Id="rId2" Type="http://schemas.openxmlformats.org/officeDocument/2006/relationships/hyperlink" Target="https://hayohio-bit.github.io/hayohio-portfolio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19862" y="930453"/>
            <a:ext cx="4110927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8FAFC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R</a:t>
            </a:r>
            <a:r>
              <a:rPr sz="4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94A3B8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19862" y="2021398"/>
            <a:ext cx="4110927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8FAFC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E</a:t>
            </a:r>
            <a:r>
              <a:rPr sz="4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94A3B8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9862" y="3112343"/>
            <a:ext cx="4110927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8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8FAFC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A</a:t>
            </a:r>
            <a:r>
              <a:rPr sz="4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94A3B8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19862" y="4203288"/>
            <a:ext cx="4110927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0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8FAFC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C</a:t>
            </a:r>
            <a:r>
              <a:rPr sz="4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94A3B8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reative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9862" y="5294235"/>
            <a:ext cx="4110927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8FAFC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T</a:t>
            </a:r>
            <a:r>
              <a:rPr sz="4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94A3B8"/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ExtraBold" panose="02000009000000000000" pitchFamily="49" charset="0"/>
              </a:rPr>
              <a:t>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1487" y="7074890"/>
            <a:ext cx="464742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38BDF8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NL Medium" panose="02000009000000000000" pitchFamily="49" charset="0"/>
              </a:rPr>
              <a:t>React Portfolio by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NL Medium" panose="02000009000000000000" pitchFamily="49" charset="0"/>
              </a:rPr>
              <a:t>Sunhayoung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JetBrains Mono NL Medium" panose="02000009000000000000" pitchFamily="49" charset="0"/>
              <a:ea typeface="JetBrains Mono NL Medium" panose="02000009000000000000" pitchFamily="49" charset="0"/>
              <a:cs typeface="JetBrains Mono NL Medium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011DD-0420-FFEA-649B-CD66F897C28C}"/>
              </a:ext>
            </a:extLst>
          </p:cNvPr>
          <p:cNvSpPr txBox="1"/>
          <p:nvPr/>
        </p:nvSpPr>
        <p:spPr>
          <a:xfrm>
            <a:off x="6915091" y="7487493"/>
            <a:ext cx="800219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38BDF8"/>
                </a:solidFill>
              </a:defRPr>
            </a:pPr>
            <a:r>
              <a:rPr 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94A3B8">
                    <a:alpha val="39000"/>
                  </a:srgbClr>
                </a:solidFill>
                <a:latin typeface="JetBrains Mono NL Medium" panose="02000009000000000000" pitchFamily="49" charset="0"/>
                <a:ea typeface="JetBrains Mono NL Medium" panose="02000009000000000000" pitchFamily="49" charset="0"/>
                <a:cs typeface="JetBrains Mono NL Medium" panose="02000009000000000000" pitchFamily="49" charset="0"/>
              </a:rPr>
              <a:t>2025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94A3B8">
                  <a:alpha val="39000"/>
                </a:srgbClr>
              </a:solidFill>
              <a:latin typeface="JetBrains Mono NL Medium" panose="02000009000000000000" pitchFamily="49" charset="0"/>
              <a:ea typeface="JetBrains Mono NL Medium" panose="02000009000000000000" pitchFamily="49" charset="0"/>
              <a:cs typeface="JetBrains Mono NL Medium" panose="02000009000000000000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7601" y="720000"/>
            <a:ext cx="751519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7225" y="1672413"/>
            <a:ext cx="6559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목차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3024936"/>
            <a:ext cx="3657600" cy="2068436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bIns="182880"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01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Overview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3024936"/>
            <a:ext cx="3657600" cy="2068436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bIns="182880"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02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Features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주요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기능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0" y="3024936"/>
            <a:ext cx="3657600" cy="2068436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bIns="182880"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03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Tech Stack · Structure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기술 스택과 프로젝트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481203"/>
            <a:ext cx="3657600" cy="2068436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bIns="182880"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04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Solving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문제 해결 과정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5481203"/>
            <a:ext cx="3657600" cy="2068436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bIns="182880"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05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Timeline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개발 로그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5481203"/>
            <a:ext cx="3657600" cy="2068436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bIns="182880"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06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Outcomes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성과 및 회고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3204" y="720000"/>
            <a:ext cx="7083992" cy="9541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68294" y="1819340"/>
            <a:ext cx="54938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리액트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기반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인터랙티브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포트폴리오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웹사이트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구현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9A17F20-1CC0-892B-A690-E1F5A9C3C8AD}"/>
              </a:ext>
            </a:extLst>
          </p:cNvPr>
          <p:cNvGrpSpPr/>
          <p:nvPr/>
        </p:nvGrpSpPr>
        <p:grpSpPr>
          <a:xfrm>
            <a:off x="701566" y="3499945"/>
            <a:ext cx="13227269" cy="3436883"/>
            <a:chOff x="701566" y="3499945"/>
            <a:chExt cx="13227269" cy="3436883"/>
          </a:xfrm>
        </p:grpSpPr>
        <p:sp>
          <p:nvSpPr>
            <p:cNvPr id="4" name="Rectangle 3"/>
            <p:cNvSpPr/>
            <p:nvPr/>
          </p:nvSpPr>
          <p:spPr>
            <a:xfrm>
              <a:off x="701566" y="3499945"/>
              <a:ext cx="3941379" cy="3436883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274320" rIns="274320" rtlCol="0" anchor="ctr"/>
            <a:lstStyle/>
            <a:p>
              <a:r>
                <a:rPr lang="ko-KR" altLang="en-US" sz="2400" b="1" dirty="0">
                  <a:solidFill>
                    <a:srgbClr val="F8FAFC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🎯 </a:t>
              </a:r>
              <a:r>
                <a:rPr lang="en-US" sz="2400" b="1" dirty="0">
                  <a:solidFill>
                    <a:srgbClr val="F8FAFC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Goal</a:t>
              </a:r>
            </a:p>
            <a:p>
              <a:endParaRPr lang="en-US" sz="2400" b="1" dirty="0">
                <a:solidFill>
                  <a:srgbClr val="F8FAF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단순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클론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코딩을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넘어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</a:t>
              </a:r>
              <a:b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흐름과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상태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관리를</a:t>
              </a:r>
              <a:b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직접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설계하고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700" dirty="0" err="1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구현하는</a:t>
              </a:r>
              <a:r>
                <a:rPr sz="1700" dirty="0">
                  <a:solidFill>
                    <a:srgbClr val="CBD5E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것.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344511" y="3499945"/>
              <a:ext cx="3941379" cy="3436883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274320" rIns="274320" rtlCol="0" anchor="ctr"/>
            <a:lstStyle/>
            <a:p>
              <a:pPr>
                <a:defRPr sz="2400" b="1">
                  <a:solidFill>
                    <a:srgbClr val="F8FAFC"/>
                  </a:solidFill>
                </a:defRPr>
              </a:pPr>
              <a:r>
                <a:rPr lang="en-US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</a:t>
              </a:r>
              <a:r>
                <a:rPr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📅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Duration</a:t>
              </a:r>
              <a:endParaRPr 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defRPr sz="2400" b="1">
                  <a:solidFill>
                    <a:srgbClr val="F8FAFC"/>
                  </a:solidFill>
                </a:defRPr>
              </a:pPr>
              <a:endPara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lnSpc>
                  <a:spcPct val="150000"/>
                </a:lnSpc>
                <a:spcBef>
                  <a:spcPts val="1000"/>
                </a:spcBef>
                <a:defRPr sz="1700">
                  <a:solidFill>
                    <a:srgbClr val="CBD5E1"/>
                  </a:solidFill>
                </a:defRPr>
              </a:pP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2025.12.15 (월) ~ 12.24 (수)</a:t>
              </a:r>
              <a:b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9 Days Sprint |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지속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개발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중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9987456" y="3499945"/>
              <a:ext cx="3941379" cy="3436883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274320" rIns="274320" rtlCol="0" anchor="ctr"/>
            <a:lstStyle/>
            <a:p>
              <a:pPr>
                <a:defRPr sz="2400" b="1">
                  <a:solidFill>
                    <a:srgbClr val="F8FAFC"/>
                  </a:solidFill>
                </a:defRPr>
              </a:pPr>
              <a:r>
                <a:rPr lang="en-US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</a:t>
              </a:r>
              <a:r>
                <a:rPr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⚡ 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Key Result</a:t>
              </a:r>
              <a:endParaRPr 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defRPr sz="2400" b="1">
                  <a:solidFill>
                    <a:srgbClr val="F8FAFC"/>
                  </a:solidFill>
                </a:defRPr>
              </a:pPr>
              <a:endPara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lnSpc>
                  <a:spcPct val="150000"/>
                </a:lnSpc>
                <a:spcBef>
                  <a:spcPts val="1000"/>
                </a:spcBef>
                <a:defRPr sz="1700">
                  <a:solidFill>
                    <a:srgbClr val="CBD5E1"/>
                  </a:solidFill>
                </a:defRPr>
              </a:pP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Functional Components &amp; Hooks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실무적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활용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및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비즈니스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로직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추상화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Redux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Toolkit으로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복잡한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체계화</a:t>
              </a:r>
              <a:endParaRPr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0016" y="720000"/>
            <a:ext cx="579036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22045" y="1623848"/>
            <a:ext cx="61863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사용자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경험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(UX)을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최우선으로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고려한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기능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구현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JetBrains Mono NL Medium" panose="02000009000000000000" pitchFamily="49" charset="0"/>
              <a:ea typeface="JetBrains Mono NL Medium" panose="02000009000000000000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2663280"/>
            <a:ext cx="3657600" cy="2286000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lnSpc>
                <a:spcPct val="150000"/>
              </a:lnSpc>
              <a:defRPr sz="2100" b="1">
                <a:solidFill>
                  <a:srgbClr val="F8FAFC"/>
                </a:solidFill>
              </a:defRPr>
            </a:pPr>
            <a:r>
              <a:rPr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✅ 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Home Page</a:t>
            </a: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endParaRPr lang="en-US"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디자인물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카드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그리드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레이아웃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썸네일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+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제목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+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태그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구성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0" y="2663280"/>
            <a:ext cx="3657600" cy="2286000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lnSpc>
                <a:spcPct val="150000"/>
              </a:lnSpc>
              <a:defRPr sz="2100" b="1">
                <a:solidFill>
                  <a:srgbClr val="F8FAFC"/>
                </a:solidFill>
              </a:defRPr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✅ 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Category Filter</a:t>
            </a: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endParaRPr lang="en-US"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Redux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기반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실시간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필터링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즉시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반응하는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UI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업데이트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0" y="2663280"/>
            <a:ext cx="3657600" cy="2286000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lnSpc>
                <a:spcPct val="150000"/>
              </a:lnSpc>
              <a:defRPr sz="2100" b="1">
                <a:solidFill>
                  <a:srgbClr val="F8FAFC"/>
                </a:solidFill>
              </a:defRPr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✅ 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Search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제목</a:t>
            </a:r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태그 실시간 검색 구현</a:t>
            </a:r>
            <a:b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useCallback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최적화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223600"/>
            <a:ext cx="3657600" cy="2286000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lnSpc>
                <a:spcPct val="150000"/>
              </a:lnSpc>
              <a:defRPr sz="2100" b="1">
                <a:solidFill>
                  <a:srgbClr val="F8FAFC"/>
                </a:solidFill>
              </a:defRPr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✅ 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Sort Logic</a:t>
            </a: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endParaRPr lang="en-US"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최신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오래된순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가나다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정렬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Redux Selector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활용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0" y="5223600"/>
            <a:ext cx="3657600" cy="2286000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lnSpc>
                <a:spcPct val="150000"/>
              </a:lnSpc>
              <a:defRPr sz="2100" b="1">
                <a:solidFill>
                  <a:srgbClr val="F8FAFC"/>
                </a:solidFill>
              </a:defRPr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✅ 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Detail Zoom</a:t>
            </a: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endParaRPr lang="en-US"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95vh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고해상도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확대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뷰어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Hyper-Sensitive Zoom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5223600"/>
            <a:ext cx="3657600" cy="2286000"/>
          </a:xfrm>
          <a:prstGeom prst="rect">
            <a:avLst/>
          </a:prstGeom>
          <a:solidFill>
            <a:srgbClr val="1E3A8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lnSpc>
                <a:spcPct val="150000"/>
              </a:lnSpc>
              <a:defRPr sz="2100" b="1">
                <a:solidFill>
                  <a:srgbClr val="F8FAFC"/>
                </a:solidFill>
              </a:defRPr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✅ 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Theme &amp; Responsive</a:t>
            </a: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endParaRPr lang="en-US"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50000"/>
              </a:lnSpc>
              <a:defRPr sz="1500">
                <a:solidFill>
                  <a:srgbClr val="CBD5E1"/>
                </a:solidFill>
              </a:defRPr>
            </a:pP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다크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라이트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모드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(Context API)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완벽한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모바일-데스크톱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대응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79582" y="720000"/>
            <a:ext cx="967123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</a:defRPr>
            </a:pPr>
            <a:r>
              <a:rPr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Structure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00816" y="1683757"/>
            <a:ext cx="32287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견고한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아키텍처와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기술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선정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2F2924C-7259-D14D-6D26-4A2D5C307AB2}"/>
              </a:ext>
            </a:extLst>
          </p:cNvPr>
          <p:cNvGrpSpPr/>
          <p:nvPr/>
        </p:nvGrpSpPr>
        <p:grpSpPr>
          <a:xfrm>
            <a:off x="1621363" y="2527697"/>
            <a:ext cx="11387674" cy="4966138"/>
            <a:chOff x="1471590" y="2527697"/>
            <a:chExt cx="11387674" cy="4966138"/>
          </a:xfrm>
        </p:grpSpPr>
        <p:sp>
          <p:nvSpPr>
            <p:cNvPr id="4" name="Rectangle 3"/>
            <p:cNvSpPr/>
            <p:nvPr/>
          </p:nvSpPr>
          <p:spPr>
            <a:xfrm>
              <a:off x="1471590" y="2527697"/>
              <a:ext cx="6731876" cy="1308538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0" bIns="72000" rtlCol="0" anchor="ctr"/>
            <a:lstStyle/>
            <a:p>
              <a:pPr algn="ctr">
                <a:defRPr sz="1900" b="1">
                  <a:solidFill>
                    <a:srgbClr val="F8FAFC"/>
                  </a:solidFill>
                </a:defRPr>
              </a:pP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Frontend &amp; Build</a:t>
              </a:r>
            </a:p>
            <a:p>
              <a:pPr>
                <a:defRPr sz="1400">
                  <a:solidFill>
                    <a:srgbClr val="CBD5E1"/>
                  </a:solidFill>
                </a:defRPr>
              </a:pP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React 18: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최신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Hooks API</a:t>
              </a:r>
              <a:b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Vite: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빠른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HMR &amp;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번들링</a:t>
              </a:r>
              <a:b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Router v6: SPA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동적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라우팅</a:t>
              </a:r>
              <a:endPara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1471590" y="4356497"/>
              <a:ext cx="6731876" cy="1308538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0" bIns="72000" rtlCol="0" anchor="ctr"/>
            <a:lstStyle/>
            <a:p>
              <a:pPr algn="ctr">
                <a:defRPr sz="1900" b="1">
                  <a:solidFill>
                    <a:srgbClr val="F8FAFC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State Management</a:t>
              </a:r>
            </a:p>
            <a:p>
              <a:pPr>
                <a:defRPr sz="1400">
                  <a:solidFill>
                    <a:srgbClr val="CBD5E1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Redux Toolkit: Slice 패턴 관리</a:t>
              </a:r>
              <a:b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(portfolio, theme, ui slices)</a:t>
              </a:r>
              <a:b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Context API: Theme 전역 관리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471590" y="6185297"/>
              <a:ext cx="6731876" cy="1308538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0" bIns="72000" rtlCol="0" anchor="ctr"/>
            <a:lstStyle/>
            <a:p>
              <a:pPr algn="ctr">
                <a:defRPr sz="1900" b="1">
                  <a:solidFill>
                    <a:srgbClr val="F8FAFC"/>
                  </a:solidFill>
                </a:defRPr>
              </a:pP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Advanced Patterns</a:t>
              </a:r>
            </a:p>
            <a:p>
              <a:pPr>
                <a:defRPr sz="1400">
                  <a:solidFill>
                    <a:srgbClr val="CBD5E1"/>
                  </a:solidFill>
                </a:defRPr>
              </a:pP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Custom Hooks: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로직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추상화</a:t>
              </a:r>
              <a:b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Lazy Loading: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초기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로딩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최적화</a:t>
              </a:r>
              <a:endPara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569010" y="2527697"/>
              <a:ext cx="4290254" cy="4966138"/>
            </a:xfrm>
            <a:prstGeom prst="rect">
              <a:avLst/>
            </a:prstGeom>
            <a:solidFill>
              <a:srgbClr val="0F172A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274320" rtlCol="0" anchor="ctr"/>
            <a:lstStyle/>
            <a:p>
              <a:pPr>
                <a:lnSpc>
                  <a:spcPct val="120000"/>
                </a:lnSpc>
                <a:defRPr sz="1300">
                  <a:solidFill>
                    <a:srgbClr val="94A3B8"/>
                  </a:solidFill>
                  <a:latin typeface="Consolas"/>
                </a:defRPr>
              </a:pPr>
              <a:r>
                <a:rPr sz="1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📂 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Project Tree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src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├── components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│   ├── layout (Header, Footer)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│   ├── portfolio (Card, List)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│   └──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ui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(Buttons, Scroll)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├── pages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│   ├── Home, About, Work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│   └── Detail, Contact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├── store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│   └── slices (portfolio, theme)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├── theme (Context, Hooks)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├── utils (Images, Helpers)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└──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App.jsx</a:t>
              </a:r>
              <a:endParaRPr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7601" y="720000"/>
            <a:ext cx="751519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</a:defRPr>
            </a:pPr>
            <a:r>
              <a:rPr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Problem &amp;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5374" y="1611570"/>
            <a:ext cx="43396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dirty="0"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CODE LEVEL Trouble Shooting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6B4E8F6-9A3C-8FBA-DFCD-B04A128037FA}"/>
              </a:ext>
            </a:extLst>
          </p:cNvPr>
          <p:cNvGrpSpPr/>
          <p:nvPr/>
        </p:nvGrpSpPr>
        <p:grpSpPr>
          <a:xfrm>
            <a:off x="685800" y="2565677"/>
            <a:ext cx="13258800" cy="4968956"/>
            <a:chOff x="599090" y="2768425"/>
            <a:chExt cx="13258800" cy="4968956"/>
          </a:xfrm>
        </p:grpSpPr>
        <p:sp>
          <p:nvSpPr>
            <p:cNvPr id="4" name="Rectangle 3"/>
            <p:cNvSpPr/>
            <p:nvPr/>
          </p:nvSpPr>
          <p:spPr>
            <a:xfrm>
              <a:off x="599090" y="2768425"/>
              <a:ext cx="6400800" cy="2238703"/>
            </a:xfrm>
            <a:prstGeom prst="rect">
              <a:avLst/>
            </a:prstGeom>
            <a:solidFill>
              <a:srgbClr val="0F172A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tIns="0" rIns="182880" bIns="0" rtlCol="0" anchor="ctr"/>
            <a:lstStyle/>
            <a:p>
              <a:pPr algn="ctr">
                <a:lnSpc>
                  <a:spcPct val="150000"/>
                </a:lnSpc>
                <a:defRPr sz="1600" b="1">
                  <a:solidFill>
                    <a:srgbClr val="F87171"/>
                  </a:solidFill>
                </a:defRPr>
              </a:pPr>
              <a:r>
                <a:rPr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🔴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1. Git Pages Asset 404</a:t>
              </a:r>
            </a:p>
            <a:p>
              <a:pPr>
                <a:lnSpc>
                  <a:spcPct val="150000"/>
                </a:lnSpc>
                <a:defRPr sz="1100">
                  <a:solidFill>
                    <a:srgbClr val="CBD5E1"/>
                  </a:solidFill>
                </a:defRPr>
              </a:pP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Base URL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경로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불일치로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리소스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로드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실패</a:t>
              </a:r>
              <a:endParaRPr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endParaRPr>
            </a:p>
            <a:p>
              <a:pPr>
                <a:lnSpc>
                  <a:spcPct val="150000"/>
                </a:lnSpc>
                <a:defRPr sz="900">
                  <a:solidFill>
                    <a:srgbClr val="F87171"/>
                  </a:solidFill>
                  <a:latin typeface="Consolas"/>
                </a:defRPr>
              </a:pP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Before: ${</a:t>
              </a:r>
              <a:r>
                <a:rPr sz="10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baseUrl</a:t>
              </a: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}${</a:t>
              </a:r>
              <a:r>
                <a:rPr sz="10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cleanPath</a:t>
              </a: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}</a:t>
              </a:r>
            </a:p>
            <a:p>
              <a:pPr>
                <a:lnSpc>
                  <a:spcPct val="150000"/>
                </a:lnSpc>
                <a:defRPr sz="1300" b="1">
                  <a:solidFill>
                    <a:srgbClr val="4ADE80"/>
                  </a:solidFill>
                </a:defRPr>
              </a:pPr>
              <a:r>
                <a:rPr lang="ko-KR" altLang="en-US" sz="1400"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🟢</a:t>
              </a:r>
              <a:r>
                <a:rPr sz="1400"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Solution</a:t>
              </a:r>
            </a:p>
            <a:p>
              <a:pPr>
                <a:lnSpc>
                  <a:spcPct val="150000"/>
                </a:lnSpc>
                <a:defRPr sz="900">
                  <a:solidFill>
                    <a:srgbClr val="4ADE80"/>
                  </a:solidFill>
                  <a:latin typeface="Consolas"/>
                </a:defRPr>
              </a:pP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After: </a:t>
              </a:r>
              <a:r>
                <a:rPr sz="10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path.startsWith</a:t>
              </a: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('/') ? </a:t>
              </a:r>
              <a:r>
                <a:rPr sz="10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path.slice</a:t>
              </a: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(1) : path</a:t>
              </a:r>
            </a:p>
            <a:p>
              <a:pPr>
                <a:lnSpc>
                  <a:spcPct val="150000"/>
                </a:lnSpc>
                <a:defRPr sz="1000">
                  <a:solidFill>
                    <a:srgbClr val="94A3B8"/>
                  </a:solidFill>
                </a:defRPr>
              </a:pP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순수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상대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경로로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변환하여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해결</a:t>
              </a:r>
              <a:endParaRPr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7457090" y="2768425"/>
              <a:ext cx="6400800" cy="2238703"/>
            </a:xfrm>
            <a:prstGeom prst="rect">
              <a:avLst/>
            </a:prstGeom>
            <a:solidFill>
              <a:srgbClr val="0F172A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tIns="0" rIns="182880" bIns="0" rtlCol="0" anchor="ctr"/>
            <a:lstStyle/>
            <a:p>
              <a:pPr algn="ctr">
                <a:lnSpc>
                  <a:spcPct val="150000"/>
                </a:lnSpc>
                <a:defRPr sz="1600" b="1">
                  <a:solidFill>
                    <a:srgbClr val="F87171"/>
                  </a:solidFill>
                </a:defRPr>
              </a:pPr>
              <a:r>
                <a:rPr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🔴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2. CSS Import Order</a:t>
              </a:r>
            </a:p>
            <a:p>
              <a:pPr>
                <a:lnSpc>
                  <a:spcPct val="150000"/>
                </a:lnSpc>
                <a:defRPr sz="1100">
                  <a:solidFill>
                    <a:srgbClr val="CBD5E1"/>
                  </a:solidFill>
                </a:defRPr>
              </a:pP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컴포넌트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로드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후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스타일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적용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실패</a:t>
              </a:r>
              <a:endParaRPr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endParaRPr>
            </a:p>
            <a:p>
              <a:pPr>
                <a:lnSpc>
                  <a:spcPct val="150000"/>
                </a:lnSpc>
                <a:defRPr sz="900">
                  <a:solidFill>
                    <a:srgbClr val="F87171"/>
                  </a:solidFill>
                  <a:latin typeface="Consolas"/>
                </a:defRPr>
              </a:pP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const Comp = () =&gt; {...}</a:t>
              </a:r>
              <a:b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</a:b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import './Comp.css'; // </a:t>
              </a:r>
              <a:r>
                <a:rPr sz="1000"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❌</a:t>
              </a:r>
            </a:p>
            <a:p>
              <a:pPr>
                <a:lnSpc>
                  <a:spcPct val="150000"/>
                </a:lnSpc>
                <a:defRPr sz="1300" b="1">
                  <a:solidFill>
                    <a:srgbClr val="4ADE80"/>
                  </a:solidFill>
                </a:defRPr>
              </a:pPr>
              <a:r>
                <a:rPr sz="1400"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🟢</a:t>
              </a:r>
              <a:r>
                <a:rPr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Solution</a:t>
              </a:r>
            </a:p>
            <a:p>
              <a:pPr>
                <a:lnSpc>
                  <a:spcPct val="150000"/>
                </a:lnSpc>
                <a:defRPr sz="900">
                  <a:solidFill>
                    <a:srgbClr val="4ADE80"/>
                  </a:solidFill>
                  <a:latin typeface="Consolas"/>
                </a:defRPr>
              </a:pP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import './Comp.css'; // </a:t>
              </a:r>
              <a:r>
                <a:rPr sz="1000"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✅</a:t>
              </a:r>
              <a:b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</a:b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const Comp = () =&gt; {...}</a:t>
              </a:r>
            </a:p>
            <a:p>
              <a:pPr>
                <a:lnSpc>
                  <a:spcPct val="150000"/>
                </a:lnSpc>
                <a:defRPr sz="1000">
                  <a:solidFill>
                    <a:srgbClr val="94A3B8"/>
                  </a:solidFill>
                </a:defRPr>
              </a:pP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Import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Hoisting으로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우선순위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확보</a:t>
              </a:r>
              <a:endParaRPr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99090" y="5498678"/>
              <a:ext cx="6400800" cy="2238703"/>
            </a:xfrm>
            <a:prstGeom prst="rect">
              <a:avLst/>
            </a:prstGeom>
            <a:solidFill>
              <a:srgbClr val="0F172A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tIns="0" rIns="182880" bIns="0" rtlCol="0" anchor="ctr"/>
            <a:lstStyle/>
            <a:p>
              <a:pPr algn="ctr">
                <a:lnSpc>
                  <a:spcPct val="150000"/>
                </a:lnSpc>
                <a:defRPr sz="1600" b="1">
                  <a:solidFill>
                    <a:srgbClr val="F87171"/>
                  </a:solidFill>
                </a:defRPr>
              </a:pPr>
              <a:r>
                <a:rPr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🔴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3. Redux Infinite Render</a:t>
              </a:r>
            </a:p>
            <a:p>
              <a:pPr>
                <a:lnSpc>
                  <a:spcPct val="150000"/>
                </a:lnSpc>
                <a:defRPr sz="1100">
                  <a:solidFill>
                    <a:srgbClr val="CBD5E1"/>
                  </a:solidFill>
                </a:defRPr>
              </a:pP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filter()가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매번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새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배열을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반환</a:t>
              </a:r>
              <a:endParaRPr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endParaRPr>
            </a:p>
            <a:p>
              <a:pPr>
                <a:lnSpc>
                  <a:spcPct val="150000"/>
                </a:lnSpc>
                <a:defRPr sz="900">
                  <a:solidFill>
                    <a:srgbClr val="F87171"/>
                  </a:solidFill>
                  <a:latin typeface="Consolas"/>
                </a:defRPr>
              </a:pPr>
              <a:r>
                <a:rPr sz="10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useSelector</a:t>
              </a: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(state =&gt; </a:t>
              </a:r>
              <a:r>
                <a:rPr sz="10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state.items.filter</a:t>
              </a: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(...))</a:t>
              </a:r>
            </a:p>
            <a:p>
              <a:pPr>
                <a:lnSpc>
                  <a:spcPct val="150000"/>
                </a:lnSpc>
                <a:defRPr sz="1300" b="1">
                  <a:solidFill>
                    <a:srgbClr val="4ADE80"/>
                  </a:solidFill>
                </a:defRPr>
              </a:pPr>
              <a:r>
                <a:rPr sz="1400"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🟢</a:t>
              </a:r>
              <a:r>
                <a:rPr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Solution</a:t>
              </a:r>
            </a:p>
            <a:p>
              <a:pPr>
                <a:lnSpc>
                  <a:spcPct val="150000"/>
                </a:lnSpc>
                <a:defRPr sz="900">
                  <a:solidFill>
                    <a:srgbClr val="4ADE80"/>
                  </a:solidFill>
                  <a:latin typeface="Consolas"/>
                </a:defRPr>
              </a:pPr>
              <a:r>
                <a:rPr sz="10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createSelector</a:t>
              </a: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(items, filters, (</a:t>
              </a:r>
              <a:r>
                <a:rPr sz="10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i</a:t>
              </a: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, f) =&gt; ... )</a:t>
              </a:r>
            </a:p>
            <a:p>
              <a:pPr>
                <a:lnSpc>
                  <a:spcPct val="150000"/>
                </a:lnSpc>
                <a:defRPr sz="1000">
                  <a:solidFill>
                    <a:srgbClr val="94A3B8"/>
                  </a:solidFill>
                </a:defRPr>
              </a:pP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Reselect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메모이제이션으로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참조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유지</a:t>
              </a:r>
              <a:endParaRPr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457090" y="5498678"/>
              <a:ext cx="6400800" cy="2238703"/>
            </a:xfrm>
            <a:prstGeom prst="rect">
              <a:avLst/>
            </a:prstGeom>
            <a:solidFill>
              <a:srgbClr val="0F172A"/>
            </a:solidFill>
            <a:ln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tIns="0" rIns="182880" bIns="0" rtlCol="0" anchor="ctr"/>
            <a:lstStyle/>
            <a:p>
              <a:pPr algn="ctr">
                <a:lnSpc>
                  <a:spcPct val="150000"/>
                </a:lnSpc>
                <a:defRPr sz="1600" b="1">
                  <a:solidFill>
                    <a:srgbClr val="F87171"/>
                  </a:solidFill>
                </a:defRPr>
              </a:pPr>
              <a:r>
                <a:rPr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🔴</a:t>
              </a:r>
              <a:r>
                <a:rPr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4. Vite HMR Frozen</a:t>
              </a:r>
            </a:p>
            <a:p>
              <a:pPr>
                <a:lnSpc>
                  <a:spcPct val="150000"/>
                </a:lnSpc>
                <a:defRPr sz="1100">
                  <a:solidFill>
                    <a:srgbClr val="CBD5E1"/>
                  </a:solidFill>
                </a:defRPr>
              </a:pP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Windows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환경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파일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감시</a:t>
              </a:r>
              <a:r>
                <a:rPr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충돌</a:t>
              </a:r>
              <a:endParaRPr sz="1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endParaRPr>
            </a:p>
            <a:p>
              <a:pPr>
                <a:lnSpc>
                  <a:spcPct val="150000"/>
                </a:lnSpc>
                <a:defRPr sz="900">
                  <a:solidFill>
                    <a:srgbClr val="F87171"/>
                  </a:solidFill>
                  <a:latin typeface="Consolas"/>
                </a:defRPr>
              </a:pP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// No Config (Default)</a:t>
              </a:r>
            </a:p>
            <a:p>
              <a:pPr>
                <a:lnSpc>
                  <a:spcPct val="150000"/>
                </a:lnSpc>
                <a:defRPr sz="1300" b="1">
                  <a:solidFill>
                    <a:srgbClr val="4ADE80"/>
                  </a:solidFill>
                </a:defRPr>
              </a:pPr>
              <a:r>
                <a:rPr sz="1400" dirty="0"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🟢 </a:t>
              </a:r>
              <a:r>
                <a:rPr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Solution</a:t>
              </a:r>
            </a:p>
            <a:p>
              <a:pPr>
                <a:lnSpc>
                  <a:spcPct val="150000"/>
                </a:lnSpc>
                <a:defRPr sz="900">
                  <a:solidFill>
                    <a:srgbClr val="4ADE80"/>
                  </a:solidFill>
                  <a:latin typeface="Consolas"/>
                </a:defRPr>
              </a:pP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server: { </a:t>
              </a:r>
              <a:r>
                <a:rPr sz="10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hmr</a:t>
              </a:r>
              <a:r>
                <a:rPr sz="1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: { overlay: false }, watch: {...} }</a:t>
              </a:r>
            </a:p>
            <a:p>
              <a:pPr>
                <a:lnSpc>
                  <a:spcPct val="150000"/>
                </a:lnSpc>
                <a:defRPr sz="1000">
                  <a:solidFill>
                    <a:srgbClr val="94A3B8"/>
                  </a:solidFill>
                </a:defRPr>
              </a:pP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Config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명시적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지정으로</a:t>
              </a:r>
              <a:r>
                <a:rPr sz="10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 </a:t>
              </a:r>
              <a:r>
                <a:rPr sz="105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JetBrains Mono NL Medium" panose="02000009000000000000" pitchFamily="49" charset="0"/>
                  <a:ea typeface="JetBrains Mono NL Medium" panose="02000009000000000000" pitchFamily="49" charset="0"/>
                </a:rPr>
                <a:t>안정화</a:t>
              </a:r>
              <a:endParaRPr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88809" y="720000"/>
            <a:ext cx="665278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</a:defRPr>
            </a:pPr>
            <a:r>
              <a:rPr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Development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78084" y="1674107"/>
            <a:ext cx="18742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개발</a:t>
            </a:r>
            <a:r>
              <a:rPr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과정</a:t>
            </a:r>
            <a:r>
              <a:rPr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7단계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9604"/>
            <a:ext cx="3108960" cy="2560320"/>
          </a:xfrm>
          <a:prstGeom prst="rect">
            <a:avLst/>
          </a:prstGeom>
          <a:solidFill>
            <a:srgbClr val="1E3A8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lnSpc>
                <a:spcPct val="150000"/>
              </a:lnSpc>
              <a:defRPr sz="1600" b="1">
                <a:solidFill>
                  <a:srgbClr val="38BDF8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Phase 1</a:t>
            </a:r>
          </a:p>
          <a:p>
            <a:pPr>
              <a:lnSpc>
                <a:spcPct val="150000"/>
              </a:lnSpc>
              <a:defRPr sz="1800" b="1">
                <a:solidFill>
                  <a:srgbClr val="F8FAFC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Init &amp; Basics</a:t>
            </a:r>
          </a:p>
          <a:p>
            <a:pPr>
              <a:lnSpc>
                <a:spcPct val="150000"/>
              </a:lnSpc>
              <a:defRPr sz="1200">
                <a:solidFill>
                  <a:srgbClr val="CBD5E1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Vite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템플릿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세팅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Redux Store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구성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Router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설계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폴더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구조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정의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0" y="2339604"/>
            <a:ext cx="3108960" cy="2560320"/>
          </a:xfrm>
          <a:prstGeom prst="rect">
            <a:avLst/>
          </a:prstGeom>
          <a:solidFill>
            <a:srgbClr val="1E3A8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lnSpc>
                <a:spcPct val="150000"/>
              </a:lnSpc>
              <a:defRPr sz="1600" b="1">
                <a:solidFill>
                  <a:srgbClr val="38BDF8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Phase 2</a:t>
            </a:r>
          </a:p>
          <a:p>
            <a:pPr>
              <a:lnSpc>
                <a:spcPct val="150000"/>
              </a:lnSpc>
              <a:defRPr sz="1800" b="1">
                <a:solidFill>
                  <a:srgbClr val="F8FAFC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Layout &amp; Theme</a:t>
            </a:r>
          </a:p>
          <a:p>
            <a:pPr>
              <a:lnSpc>
                <a:spcPct val="150000"/>
              </a:lnSpc>
              <a:defRPr sz="1200">
                <a:solidFill>
                  <a:srgbClr val="CBD5E1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Main Layout 구현</a:t>
            </a:r>
            <a:b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CSS Variables</a:t>
            </a:r>
            <a:b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Theme Context</a:t>
            </a:r>
            <a:b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Dark/Light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339604"/>
            <a:ext cx="3108960" cy="2560320"/>
          </a:xfrm>
          <a:prstGeom prst="rect">
            <a:avLst/>
          </a:prstGeom>
          <a:solidFill>
            <a:srgbClr val="1E3A8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lnSpc>
                <a:spcPct val="150000"/>
              </a:lnSpc>
              <a:defRPr sz="1600" b="1">
                <a:solidFill>
                  <a:srgbClr val="38BDF8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Phase 3</a:t>
            </a:r>
          </a:p>
          <a:p>
            <a:pPr>
              <a:lnSpc>
                <a:spcPct val="150000"/>
              </a:lnSpc>
              <a:defRPr sz="1800" b="1">
                <a:solidFill>
                  <a:srgbClr val="F8FAFC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Core Components</a:t>
            </a:r>
          </a:p>
          <a:p>
            <a:pPr>
              <a:lnSpc>
                <a:spcPct val="150000"/>
              </a:lnSpc>
              <a:defRPr sz="1200">
                <a:solidFill>
                  <a:srgbClr val="CBD5E1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Portfolio Card/List</a:t>
            </a:r>
            <a:b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Hero Section</a:t>
            </a:r>
            <a:b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Filter &amp; Search UI</a:t>
            </a:r>
            <a:b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Grid 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339604"/>
            <a:ext cx="3108960" cy="2560320"/>
          </a:xfrm>
          <a:prstGeom prst="rect">
            <a:avLst/>
          </a:prstGeom>
          <a:solidFill>
            <a:srgbClr val="1E3A8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lnSpc>
                <a:spcPct val="150000"/>
              </a:lnSpc>
              <a:defRPr sz="1600" b="1">
                <a:solidFill>
                  <a:srgbClr val="38BDF8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Phase 4</a:t>
            </a:r>
          </a:p>
          <a:p>
            <a:pPr>
              <a:lnSpc>
                <a:spcPct val="150000"/>
              </a:lnSpc>
              <a:defRPr sz="1800" b="1">
                <a:solidFill>
                  <a:srgbClr val="F8FAFC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Detail &amp; Zoom</a:t>
            </a:r>
          </a:p>
          <a:p>
            <a:pPr>
              <a:lnSpc>
                <a:spcPct val="150000"/>
              </a:lnSpc>
              <a:defRPr sz="1200">
                <a:solidFill>
                  <a:srgbClr val="CBD5E1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Dynamic Routing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2-Stage Zoom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Image Gallery</a:t>
            </a:r>
            <a:b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useParams</a:t>
            </a:r>
            <a:endParaRPr dirty="0">
              <a:ln>
                <a:solidFill>
                  <a:schemeClr val="bg1">
                    <a:alpha val="0"/>
                  </a:schemeClr>
                </a:solidFill>
              </a:ln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007C787-DFB1-55B6-0081-FE94FC35D744}"/>
              </a:ext>
            </a:extLst>
          </p:cNvPr>
          <p:cNvGrpSpPr/>
          <p:nvPr/>
        </p:nvGrpSpPr>
        <p:grpSpPr>
          <a:xfrm>
            <a:off x="2468880" y="5142712"/>
            <a:ext cx="9692640" cy="2560320"/>
            <a:chOff x="2131498" y="5111180"/>
            <a:chExt cx="9692640" cy="2560320"/>
          </a:xfrm>
        </p:grpSpPr>
        <p:sp>
          <p:nvSpPr>
            <p:cNvPr id="8" name="Rectangle 7"/>
            <p:cNvSpPr/>
            <p:nvPr/>
          </p:nvSpPr>
          <p:spPr>
            <a:xfrm>
              <a:off x="2131498" y="5111180"/>
              <a:ext cx="3108960" cy="2560320"/>
            </a:xfrm>
            <a:prstGeom prst="rect">
              <a:avLst/>
            </a:prstGeom>
            <a:solidFill>
              <a:srgbClr val="1E3A8A"/>
            </a:solidFill>
            <a:ln w="25400"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0" tIns="182880" rtlCol="0" anchor="ctr"/>
            <a:lstStyle/>
            <a:p>
              <a:pPr algn="ctr">
                <a:lnSpc>
                  <a:spcPct val="150000"/>
                </a:lnSpc>
                <a:defRPr sz="1600" b="1">
                  <a:solidFill>
                    <a:srgbClr val="38BDF8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Phase 5</a:t>
              </a:r>
            </a:p>
            <a:p>
              <a:pPr>
                <a:lnSpc>
                  <a:spcPct val="150000"/>
                </a:lnSpc>
                <a:defRPr sz="1800" b="1">
                  <a:solidFill>
                    <a:srgbClr val="F8FAFC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UI/UX Polish</a:t>
              </a:r>
            </a:p>
            <a:p>
              <a:pPr>
                <a:lnSpc>
                  <a:spcPct val="150000"/>
                </a:lnSpc>
                <a:defRPr sz="1200">
                  <a:solidFill>
                    <a:srgbClr val="CBD5E1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Hybrid Typography</a:t>
              </a:r>
              <a:b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Glassmorphism</a:t>
              </a:r>
              <a:b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Hover Effects</a:t>
              </a:r>
              <a:b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Micro Interactions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423338" y="5111180"/>
              <a:ext cx="3108960" cy="2560320"/>
            </a:xfrm>
            <a:prstGeom prst="rect">
              <a:avLst/>
            </a:prstGeom>
            <a:solidFill>
              <a:srgbClr val="1E3A8A"/>
            </a:solidFill>
            <a:ln w="25400"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0" tIns="182880" rtlCol="0" anchor="ctr"/>
            <a:lstStyle/>
            <a:p>
              <a:pPr algn="ctr">
                <a:lnSpc>
                  <a:spcPct val="150000"/>
                </a:lnSpc>
                <a:defRPr sz="1600" b="1">
                  <a:solidFill>
                    <a:srgbClr val="38BDF8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Phase 6</a:t>
              </a:r>
            </a:p>
            <a:p>
              <a:pPr>
                <a:lnSpc>
                  <a:spcPct val="150000"/>
                </a:lnSpc>
                <a:defRPr sz="1800" b="1">
                  <a:solidFill>
                    <a:srgbClr val="F8FAFC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Responsive</a:t>
              </a:r>
            </a:p>
            <a:p>
              <a:pPr>
                <a:lnSpc>
                  <a:spcPct val="150000"/>
                </a:lnSpc>
                <a:defRPr sz="1200">
                  <a:solidFill>
                    <a:srgbClr val="CBD5E1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Media Queries</a:t>
              </a:r>
              <a:b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Accessiblity</a:t>
              </a:r>
              <a:b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Lazy Loading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715178" y="5111180"/>
              <a:ext cx="3108960" cy="2560320"/>
            </a:xfrm>
            <a:prstGeom prst="rect">
              <a:avLst/>
            </a:prstGeom>
            <a:solidFill>
              <a:srgbClr val="1E3A8A"/>
            </a:solidFill>
            <a:ln w="25400"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82880" tIns="182880" rtlCol="0" anchor="ctr"/>
            <a:lstStyle/>
            <a:p>
              <a:pPr algn="ctr">
                <a:lnSpc>
                  <a:spcPct val="150000"/>
                </a:lnSpc>
                <a:defRPr sz="1600" b="1">
                  <a:solidFill>
                    <a:srgbClr val="38BDF8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Phase 7</a:t>
              </a:r>
            </a:p>
            <a:p>
              <a:pPr>
                <a:lnSpc>
                  <a:spcPct val="150000"/>
                </a:lnSpc>
                <a:defRPr sz="1800" b="1">
                  <a:solidFill>
                    <a:srgbClr val="F8FAFC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Deploy</a:t>
              </a:r>
            </a:p>
            <a:p>
              <a:pPr>
                <a:lnSpc>
                  <a:spcPct val="150000"/>
                </a:lnSpc>
                <a:defRPr sz="1200">
                  <a:solidFill>
                    <a:srgbClr val="CBD5E1"/>
                  </a:solidFill>
                </a:defRPr>
              </a:pP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Code Formatting</a:t>
              </a:r>
              <a:b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README 작성</a:t>
              </a:r>
              <a:b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GitHub Pages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7600" y="720000"/>
            <a:ext cx="751519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Outcomes &amp;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36457" y="1699333"/>
            <a:ext cx="27574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프로젝트를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통해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얻은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것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883F9CD-517C-850C-F1FF-51294C8E2FD2}"/>
              </a:ext>
            </a:extLst>
          </p:cNvPr>
          <p:cNvGrpSpPr/>
          <p:nvPr/>
        </p:nvGrpSpPr>
        <p:grpSpPr>
          <a:xfrm>
            <a:off x="2002226" y="2606142"/>
            <a:ext cx="10625948" cy="5223600"/>
            <a:chOff x="2412872" y="2286000"/>
            <a:chExt cx="10625948" cy="5223600"/>
          </a:xfrm>
        </p:grpSpPr>
        <p:sp>
          <p:nvSpPr>
            <p:cNvPr id="4" name="Rectangle 3"/>
            <p:cNvSpPr/>
            <p:nvPr/>
          </p:nvSpPr>
          <p:spPr>
            <a:xfrm>
              <a:off x="2412872" y="2286000"/>
              <a:ext cx="5178970" cy="2480400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274320" rtlCol="0" anchor="ctr"/>
            <a:lstStyle/>
            <a:p>
              <a:pPr algn="ctr">
                <a:lnSpc>
                  <a:spcPct val="150000"/>
                </a:lnSpc>
                <a:defRPr sz="1900" b="1">
                  <a:solidFill>
                    <a:srgbClr val="F8FAFC"/>
                  </a:solidFill>
                </a:defRPr>
              </a:pPr>
              <a:r>
                <a:rPr sz="20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⚛️</a:t>
              </a:r>
              <a:r>
                <a:rPr sz="2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React Ecosystem</a:t>
              </a:r>
            </a:p>
            <a:p>
              <a:pPr>
                <a:lnSpc>
                  <a:spcPct val="150000"/>
                </a:lnSpc>
                <a:defRPr sz="1400">
                  <a:solidFill>
                    <a:srgbClr val="CBD5E1"/>
                  </a:solidFill>
                </a:defRPr>
              </a:pPr>
              <a:endParaRPr 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lnSpc>
                  <a:spcPct val="150000"/>
                </a:lnSpc>
                <a:defRPr sz="1400">
                  <a:solidFill>
                    <a:srgbClr val="CBD5E1"/>
                  </a:solidFill>
                </a:defRPr>
              </a:pP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Hooks: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의존성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배열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원리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및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클로저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해결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Custom Hook: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로직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재사용성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및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구조화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Performance: memo,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useMemo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적절한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</a:t>
              </a:r>
              <a:endParaRPr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7859850" y="2286000"/>
              <a:ext cx="5178970" cy="2480400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274320" rtlCol="0" anchor="ctr"/>
            <a:lstStyle/>
            <a:p>
              <a:pPr algn="ctr">
                <a:lnSpc>
                  <a:spcPct val="150000"/>
                </a:lnSpc>
                <a:defRPr sz="1900" b="1">
                  <a:solidFill>
                    <a:srgbClr val="F8FAFC"/>
                  </a:solidFill>
                </a:defRPr>
              </a:pPr>
              <a:r>
                <a:rPr sz="20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🏗</a:t>
              </a:r>
              <a:r>
                <a:rPr sz="2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State Architecture</a:t>
              </a:r>
            </a:p>
            <a:p>
              <a:pPr>
                <a:lnSpc>
                  <a:spcPct val="150000"/>
                </a:lnSpc>
                <a:defRPr sz="1400">
                  <a:solidFill>
                    <a:srgbClr val="CBD5E1"/>
                  </a:solidFill>
                </a:defRPr>
              </a:pPr>
              <a:endParaRPr 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lnSpc>
                  <a:spcPct val="150000"/>
                </a:lnSpc>
                <a:defRPr sz="1400">
                  <a:solidFill>
                    <a:srgbClr val="CBD5E1"/>
                  </a:solidFill>
                </a:defRPr>
              </a:pP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Redux vs Local: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전역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지역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상태의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명확한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구분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Selector Pattern: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조회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최적화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Slice Design: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도메인별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분리</a:t>
              </a:r>
              <a:endParaRPr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2412872" y="5029200"/>
              <a:ext cx="5178970" cy="2480400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274320" rtlCol="0" anchor="ctr"/>
            <a:lstStyle/>
            <a:p>
              <a:pPr algn="ctr">
                <a:lnSpc>
                  <a:spcPct val="150000"/>
                </a:lnSpc>
                <a:defRPr sz="1900" b="1">
                  <a:solidFill>
                    <a:srgbClr val="F8FAFC"/>
                  </a:solidFill>
                </a:defRPr>
              </a:pPr>
              <a:r>
                <a:rPr sz="20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🎨 </a:t>
              </a:r>
              <a:r>
                <a:rPr sz="2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Styling Philosophy</a:t>
              </a:r>
            </a:p>
            <a:p>
              <a:pPr>
                <a:lnSpc>
                  <a:spcPct val="150000"/>
                </a:lnSpc>
                <a:defRPr sz="1400">
                  <a:solidFill>
                    <a:srgbClr val="CBD5E1"/>
                  </a:solidFill>
                </a:defRPr>
              </a:pPr>
              <a:endParaRPr 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lnSpc>
                  <a:spcPct val="150000"/>
                </a:lnSpc>
                <a:defRPr sz="1400">
                  <a:solidFill>
                    <a:srgbClr val="CBD5E1"/>
                  </a:solidFill>
                </a:defRPr>
              </a:pP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CSS Variables: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동적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테마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유연성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확보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Modern Layout: Grid/Flexbox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반응형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설계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Zero Runtime: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순수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CSS로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오버헤드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최소화</a:t>
              </a:r>
              <a:endParaRPr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859850" y="5029200"/>
              <a:ext cx="5178970" cy="2480400"/>
            </a:xfrm>
            <a:prstGeom prst="rect">
              <a:avLst/>
            </a:prstGeom>
            <a:solidFill>
              <a:srgbClr val="1E3A8A"/>
            </a:solidFill>
            <a:ln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0" tIns="274320" rtlCol="0" anchor="ctr"/>
            <a:lstStyle/>
            <a:p>
              <a:pPr algn="ctr">
                <a:lnSpc>
                  <a:spcPct val="150000"/>
                </a:lnSpc>
                <a:defRPr sz="1900" b="1">
                  <a:solidFill>
                    <a:srgbClr val="F8FAFC"/>
                  </a:solidFill>
                </a:defRPr>
              </a:pPr>
              <a:r>
                <a:rPr sz="20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🛣 </a:t>
              </a:r>
              <a:r>
                <a:rPr sz="2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SPA Strategy</a:t>
              </a:r>
              <a:endParaRPr 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lnSpc>
                  <a:spcPct val="150000"/>
                </a:lnSpc>
                <a:defRPr sz="1400">
                  <a:solidFill>
                    <a:srgbClr val="CBD5E1"/>
                  </a:solidFill>
                </a:defRPr>
              </a:pPr>
              <a:endParaRPr lang="en-US" sz="105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lnSpc>
                  <a:spcPct val="150000"/>
                </a:lnSpc>
                <a:defRPr sz="1400">
                  <a:solidFill>
                    <a:srgbClr val="CBD5E1"/>
                  </a:solidFill>
                </a:defRPr>
              </a:pP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URL Sync: URL ↔ UI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동기화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History: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브라우저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네비게이션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완벽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지원</a:t>
              </a:r>
              <a:b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- Deep Linking: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직접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접근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가능한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경로</a:t>
              </a:r>
              <a:r>
                <a:rPr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sz="16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설계</a:t>
              </a:r>
              <a:endParaRPr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2878" y="2143104"/>
            <a:ext cx="572464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8FAFC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80845" y="3795934"/>
            <a:ext cx="7468711" cy="9671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50000"/>
              </a:lnSpc>
              <a:defRPr sz="2000">
                <a:solidFill>
                  <a:srgbClr val="94A3B8"/>
                </a:solidFill>
              </a:defRPr>
            </a:pP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단순한 구현을 넘어, 가치 있는 사용자 경험을 설계합니다.</a:t>
            </a:r>
            <a:b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</a:br>
            <a:r>
              <a:rPr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끊임없이 고민하고 성장하는 개발자가 되겠습니다.</a:t>
            </a:r>
          </a:p>
        </p:txBody>
      </p:sp>
      <p:sp>
        <p:nvSpPr>
          <p:cNvPr id="4" name="TextBox 3">
            <a:hlinkClick r:id="rId2"/>
          </p:cNvPr>
          <p:cNvSpPr txBox="1"/>
          <p:nvPr/>
        </p:nvSpPr>
        <p:spPr>
          <a:xfrm>
            <a:off x="4307005" y="6756861"/>
            <a:ext cx="6016391" cy="3818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38BDF8"/>
                </a:solidFill>
              </a:defRPr>
            </a:pP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🌐 Live Demo: hayohio-bit.github.io/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hayohio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-portfolio/</a:t>
            </a:r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3B5111DE-B48F-F16B-5810-7F708D0F539A}"/>
              </a:ext>
            </a:extLst>
          </p:cNvPr>
          <p:cNvSpPr txBox="1"/>
          <p:nvPr/>
        </p:nvSpPr>
        <p:spPr>
          <a:xfrm>
            <a:off x="4468106" y="7138760"/>
            <a:ext cx="5694188" cy="3818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38BDF8"/>
                </a:solidFill>
              </a:defRPr>
            </a:pPr>
            <a:r>
              <a:rPr dirty="0"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🔗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 GitHub: github.com/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hayohio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-bit/</a:t>
            </a:r>
            <a:r>
              <a:rPr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hayohio</a:t>
            </a:r>
            <a:r>
              <a:rPr dirty="0">
                <a:ln>
                  <a:solidFill>
                    <a:schemeClr val="bg1">
                      <a:alpha val="0"/>
                    </a:schemeClr>
                  </a:solidFill>
                </a:ln>
                <a:latin typeface="JetBrains Mono NL Medium" panose="02000009000000000000" pitchFamily="49" charset="0"/>
                <a:ea typeface="JetBrains Mono NL Medium" panose="02000009000000000000" pitchFamily="49" charset="0"/>
              </a:rPr>
              <a:t>-portfolio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Microsoft Office PowerPoint</Application>
  <PresentationFormat>사용자 지정</PresentationFormat>
  <Paragraphs>134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JetBrains Mono NL Medium</vt:lpstr>
      <vt:lpstr>Calibri</vt:lpstr>
      <vt:lpstr>JetBrains Mono ExtraBold</vt:lpstr>
      <vt:lpstr>Arial</vt:lpstr>
      <vt:lpstr>Noto Sans KR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15</cp:revision>
  <dcterms:created xsi:type="dcterms:W3CDTF">2013-01-27T09:14:16Z</dcterms:created>
  <dcterms:modified xsi:type="dcterms:W3CDTF">2025-12-30T03:39:09Z</dcterms:modified>
  <cp:category/>
</cp:coreProperties>
</file>